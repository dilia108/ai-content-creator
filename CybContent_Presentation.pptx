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9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E73B-D87B-D20E-417D-4B8A4D687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FEEF0-BB9D-978A-E3A3-4755C2FD9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1BBCD-B297-29F0-E088-281E994F3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3CD4D-ACDB-4E22-4DCA-101BD1A51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67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41A2E"/>
          </a:solidFill>
          <a:ln w="12700">
            <a:solidFill>
              <a:srgbClr val="141A2E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6FF"/>
                </a:solidFill>
              </a:rPr>
              <a:t>PROTECT · DETECT · DEFEND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03520" y="914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AI Content Creator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30352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C6FF"/>
                </a:solidFill>
              </a:rPr>
              <a:t>for Cyber Security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303520" y="2560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0E0"/>
                </a:solidFill>
              </a:rPr>
              <a:t>Brand-aligned, non-generic content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8D0E0"/>
                </a:solidFill>
              </a:rPr>
              <a:t>powered by a two-tier knowledge base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</a:rPr>
              <a:t>Client: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246120"/>
            <a:ext cx="2560320" cy="1280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CybContent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C6FF"/>
                </a:solidFill>
              </a:rPr>
              <a:t>01  WHO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Meet CybContent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1371600"/>
            <a:ext cx="36576" cy="219456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0" y="13716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0E0"/>
                </a:solidFill>
              </a:rPr>
              <a:t>A cybersecurity content agency that produces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8D0E0"/>
                </a:solidFill>
              </a:rPr>
              <a:t>brand-aligned, distinctly non-generic content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8D0E0"/>
                </a:solidFill>
              </a:rPr>
              <a:t>for security companies.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08960" y="2240280"/>
            <a:ext cx="123444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Dilia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2697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6FF"/>
                </a:solidFill>
              </a:rPr>
              <a:t>Co-Founder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26280" y="2240280"/>
            <a:ext cx="123444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Ankita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26280" y="2697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6FF"/>
                </a:solidFill>
              </a:rPr>
              <a:t>Co-Founder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2240280"/>
            <a:ext cx="123444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Oli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2697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6FF"/>
                </a:solidFill>
              </a:rPr>
              <a:t>Co-Founder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2240280"/>
            <a:ext cx="123444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Madhuri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2697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6FF"/>
                </a:solidFill>
              </a:rPr>
              <a:t>Co-Founder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</a:rPr>
              <a:t>Our Client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40"/>
            <a:ext cx="3200400" cy="914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88229" y="3886200"/>
            <a:ext cx="50814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0E0"/>
                </a:solidFill>
              </a:rPr>
              <a:t>IronVeil Security — a cybersecurity </a:t>
            </a:r>
            <a:r>
              <a:rPr lang="en-US" sz="1200" dirty="0">
                <a:solidFill>
                  <a:schemeClr val="bg2"/>
                </a:solidFill>
              </a:rPr>
              <a:t>company specializing in EDR, ITDR, and MDR for mid-market companies</a:t>
            </a:r>
            <a:r>
              <a:rPr lang="en-US" dirty="0">
                <a:solidFill>
                  <a:schemeClr val="bg2"/>
                </a:solidFill>
              </a:rPr>
              <a:t>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02  KNOWLEDGE BASE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Two-Tier Knowledge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29184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PRIMARY KB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0E0"/>
                </a:solidFill>
              </a:rPr>
              <a:t>brand_guidelines.md — voice ,tone and banned phrases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0E0"/>
                </a:solidFill>
              </a:rPr>
              <a:t>product_specs.md — differentiators and positioning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0E0"/>
                </a:solidFill>
              </a:rPr>
              <a:t>past_content/performance_data.md — historical 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chemeClr val="bg2"/>
                </a:solidFill>
              </a:rPr>
              <a:t>          content analytics</a:t>
            </a:r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3291840"/>
          </a:xfrm>
          <a:prstGeom prst="rect">
            <a:avLst/>
          </a:prstGeom>
          <a:solidFill>
            <a:srgbClr val="1A2340"/>
          </a:solidFill>
          <a:ln w="12700">
            <a:solidFill>
              <a:srgbClr val="4488CC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SECONDARY KB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0E0"/>
                </a:solidFill>
              </a:rPr>
              <a:t>market_trends.md — threat landscape &amp; budget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0E0"/>
                </a:solidFill>
              </a:rPr>
              <a:t>competitor_analysis.md — positioning and content gaps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2697480"/>
            <a:ext cx="50292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5146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6FF"/>
                </a:solidFill>
              </a:rPr>
              <a:t>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24528" y="3017520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grounded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context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03  PIPELINE DEMONSTRATION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Five-Stage Content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0" y="2286000"/>
            <a:ext cx="292608" cy="4572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1417320" cy="3383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280160"/>
            <a:ext cx="548640" cy="548640"/>
          </a:xfrm>
          <a:prstGeom prst="ellipse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Ingest &amp; index all KB .md files by type, category &amp; keyword</a:t>
            </a:r>
          </a:p>
        </p:txBody>
      </p:sp>
      <p:sp>
        <p:nvSpPr>
          <p:cNvPr id="11" name="Shape 9"/>
          <p:cNvSpPr/>
          <p:nvPr/>
        </p:nvSpPr>
        <p:spPr>
          <a:xfrm>
            <a:off x="3447288" y="2286000"/>
            <a:ext cx="292608" cy="4572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188720"/>
            <a:ext cx="1417320" cy="3383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  <p:txBody>
          <a:bodyPr/>
          <a:lstStyle/>
          <a:p>
            <a:r>
              <a:rPr lang="en-US" b="1" dirty="0"/>
              <a:t> 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Analyze trends &amp; competitors → 5 ranked content opportunities</a:t>
            </a:r>
            <a:endParaRPr lang="en-MY" sz="1400" dirty="0">
              <a:solidFill>
                <a:schemeClr val="bg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59736" y="1280160"/>
            <a:ext cx="548640" cy="548640"/>
          </a:xfrm>
          <a:prstGeom prst="ellipse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29968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21408" y="2359152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57216" y="2286000"/>
            <a:ext cx="292608" cy="4572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1188720"/>
            <a:ext cx="1417320" cy="3383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9664" y="1280160"/>
            <a:ext cx="548640" cy="548640"/>
          </a:xfrm>
          <a:prstGeom prst="ellipse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966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39896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Brief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31336" y="2359152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Generate structured brief: title, angle, key points, CTA</a:t>
            </a:r>
          </a:p>
        </p:txBody>
      </p:sp>
      <p:sp>
        <p:nvSpPr>
          <p:cNvPr id="23" name="Shape 21"/>
          <p:cNvSpPr/>
          <p:nvPr/>
        </p:nvSpPr>
        <p:spPr>
          <a:xfrm>
            <a:off x="6867144" y="2286000"/>
            <a:ext cx="292608" cy="4572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188720"/>
            <a:ext cx="1417320" cy="3383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Full-context generation via selected template + human review</a:t>
            </a:r>
            <a:endParaRPr lang="en-MY" sz="1400" dirty="0">
              <a:solidFill>
                <a:schemeClr val="bg2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79592" y="1280160"/>
            <a:ext cx="548640" cy="548640"/>
          </a:xfrm>
          <a:prstGeom prst="ellipse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9824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41264" y="2359152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59752" y="1188720"/>
            <a:ext cx="1417320" cy="338328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Refine on feedback; surfaces brand-guideline conflicts</a:t>
            </a:r>
            <a:endParaRPr lang="en-MY" sz="1400" dirty="0">
              <a:solidFill>
                <a:schemeClr val="bg2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89520" y="1280160"/>
            <a:ext cx="548640" cy="548640"/>
          </a:xfrm>
          <a:prstGeom prst="ellipse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9752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Iterate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2359152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0D1526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src/main.py run --topic "Alert fatigue is a leadership failure" --template blog_post_ciso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04  UNIQUENESS DEMONSTRATION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72291" y="11109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we are Unique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51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Side-by-side diff available at: diff.pdf (shared in Slack)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19937F-10D8-9D56-9D87-97F69A34B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902" y="387350"/>
            <a:ext cx="4110618" cy="42001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E584AE-2E62-32CF-6CB5-85E4A7882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91" y="2272818"/>
            <a:ext cx="3998102" cy="16722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05  KANBAN 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Workflow Evolution: Day 1 → Day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15983" y="1143000"/>
            <a:ext cx="3631474" cy="320040"/>
          </a:xfrm>
          <a:prstGeom prst="rect">
            <a:avLst/>
          </a:prstGeom>
          <a:solidFill>
            <a:srgbClr val="AA3366"/>
          </a:solidFill>
          <a:ln w="12700">
            <a:solidFill>
              <a:srgbClr val="AA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OF DAY 1 — Backlog Only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83" y="1463040"/>
            <a:ext cx="3631474" cy="28886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08714" y="1143000"/>
            <a:ext cx="4676502" cy="32004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OF DAY 2 — Flow Established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0E0"/>
                </a:solidFill>
              </a:rPr>
              <a:t>Key shift: from a flat backlog to hierarchical epics with WIP tracking, Definition of Done, and multi-column flow.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532E0B-C416-509D-42D8-9F99AB50E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14" y="1463040"/>
            <a:ext cx="4676503" cy="2888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06  TECHNICAL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Stack &amp; Prompt Engineering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Pipeline orchestration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CLI via main.py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6596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OpenAI GPT-4o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148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LLM backbone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Retry + token tracking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6596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Gradio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app.py web interface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Human review step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6596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Markdown KB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148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Auto-discovered docs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0E0"/>
                </a:solidFill>
              </a:rPr>
              <a:t>Section-level retrieval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154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6FF"/>
                </a:solidFill>
              </a:rPr>
              <a:t>Anti-Homogenization Strategies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20624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FF"/>
                </a:solidFill>
              </a:rPr>
              <a:t>→ Hard-coded anti-patterns: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0E0"/>
                </a:solidFill>
              </a:rPr>
              <a:t>NEVER: "In today's landscape", "robust", "cutting-edge", "leverage"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420624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FF"/>
                </a:solidFill>
              </a:rPr>
              <a:t>→ KB grounding: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0E0"/>
                </a:solidFill>
              </a:rPr>
              <a:t>Every generation injects both KB layers for forced specificity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78808"/>
            <a:ext cx="420624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24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C6FF"/>
                </a:solidFill>
              </a:rPr>
              <a:t>→ Audience-Specific Structure: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0E0"/>
                </a:solidFill>
              </a:rPr>
              <a:t>CISO vs SOC Analyst templates enforce different structures &amp; references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4178808"/>
            <a:ext cx="420624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224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FF"/>
                </a:solidFill>
              </a:rPr>
              <a:t>→ Human-in-the-loop: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0E0"/>
                </a:solidFill>
              </a:rPr>
              <a:t>Pipeline stops for review; iterate template surfaces brand conflicts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07  CHALLENGES &amp; LEARNINGS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Technical Challenges &amp; How We Solved Them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66751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E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280160"/>
            <a:ext cx="36576" cy="4572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88720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MY" sz="1400" b="1" dirty="0">
                <a:solidFill>
                  <a:schemeClr val="bg2"/>
                </a:solidFill>
              </a:rPr>
              <a:t>Generic AI output tone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36576" cy="457200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88720"/>
            <a:ext cx="5166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0E0"/>
                </a:solidFill>
              </a:rPr>
              <a:t>→  Hard-coded forbidden phrase lists in system prompts + KB grounding force specificity at every generation 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66751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E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2029968"/>
            <a:ext cx="36576" cy="4572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93852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 Context Overflow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2029968"/>
            <a:ext cx="36576" cy="457200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938528"/>
            <a:ext cx="5166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0E0"/>
                </a:solidFill>
              </a:rPr>
              <a:t>→  Two-tier KB with targeted retrieval — only inject relevant sections, not entire documents, to stay within token limits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8503920" cy="66751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340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E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2779776"/>
            <a:ext cx="36576" cy="4572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688336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Brand Voice Consistency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779776"/>
            <a:ext cx="36576" cy="457200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688336"/>
            <a:ext cx="5166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0E0"/>
                </a:solidFill>
              </a:rPr>
              <a:t>→  Audience-specific templates (CISO vs SOC Analyst) with structural constraints; one analogy rule, one counterintuitive point rule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38144"/>
            <a:ext cx="8503920" cy="66751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83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E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3529584"/>
            <a:ext cx="36576" cy="4572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438144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Review Integration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9584"/>
            <a:ext cx="36576" cy="457200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438144"/>
            <a:ext cx="5166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0E0"/>
                </a:solidFill>
              </a:rPr>
              <a:t>→  Pipeline pauses after Stage 4; feedback fed into dedicated iterate_and_refine template that flags brand conflicts explicitly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87952"/>
            <a:ext cx="8503920" cy="66751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336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7EFF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" y="4279392"/>
            <a:ext cx="36576" cy="4572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187952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Measuring Uniqueness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29000" y="4279392"/>
            <a:ext cx="36576" cy="457200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187952"/>
            <a:ext cx="5166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0E0"/>
                </a:solidFill>
              </a:rPr>
              <a:t>→  Side-by-side diff against raw ChatGPT output; internal scoring rubric for brand alignment, specificity, and competitive angle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323B3-6912-D553-B2DD-C7EB9DC6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359185-DE02-D9C3-E43D-9A6951ADB16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055C4B-E3C9-1DCB-9BA7-78ACF5713561}"/>
              </a:ext>
            </a:extLst>
          </p:cNvPr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>
                <a:solidFill>
                  <a:srgbClr val="00C6FF"/>
                </a:solidFill>
              </a:rPr>
              <a:t>08 Demo UI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8D17D0-AF58-43D9-BE18-0EC426A2D567}"/>
              </a:ext>
            </a:extLst>
          </p:cNvPr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A Live Content Pipeline -&gt; from KB to Published</a:t>
            </a:r>
            <a:endParaRPr lang="en-US" sz="28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301733D-D818-750E-7A5E-7C57D4C80A96}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E2D1895-B7DB-FABF-C291-0C65FCAA7179}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90F40A3-5695-CE33-4450-D7CEFF355305}"/>
              </a:ext>
            </a:extLst>
          </p:cNvPr>
          <p:cNvSpPr/>
          <p:nvPr/>
        </p:nvSpPr>
        <p:spPr>
          <a:xfrm>
            <a:off x="411480" y="1234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ED9A2EA-CA48-8FF0-4583-22B2DAF76438}"/>
              </a:ext>
            </a:extLst>
          </p:cNvPr>
          <p:cNvSpPr/>
          <p:nvPr/>
        </p:nvSpPr>
        <p:spPr>
          <a:xfrm>
            <a:off x="1005840" y="1188720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KB are loaded</a:t>
            </a:r>
            <a:endParaRPr lang="en-US" sz="12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39EEA3E-746B-5144-9CC1-356D99429C9B}"/>
              </a:ext>
            </a:extLst>
          </p:cNvPr>
          <p:cNvSpPr/>
          <p:nvPr/>
        </p:nvSpPr>
        <p:spPr>
          <a:xfrm>
            <a:off x="411480" y="1984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6DEC0FB-CEF2-12D6-32FD-810524ECB53F}"/>
              </a:ext>
            </a:extLst>
          </p:cNvPr>
          <p:cNvSpPr/>
          <p:nvPr/>
        </p:nvSpPr>
        <p:spPr>
          <a:xfrm>
            <a:off x="1005840" y="193852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Maret Scrapping</a:t>
            </a:r>
            <a:endParaRPr lang="en-US" sz="12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B63EC826-19B3-FA37-A180-E6A476DFF26D}"/>
              </a:ext>
            </a:extLst>
          </p:cNvPr>
          <p:cNvSpPr/>
          <p:nvPr/>
        </p:nvSpPr>
        <p:spPr>
          <a:xfrm>
            <a:off x="411480" y="27340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D19856E6-9BCE-E4A3-6B34-A6F768DA7628}"/>
              </a:ext>
            </a:extLst>
          </p:cNvPr>
          <p:cNvSpPr/>
          <p:nvPr/>
        </p:nvSpPr>
        <p:spPr>
          <a:xfrm>
            <a:off x="1005840" y="2688336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Pick </a:t>
            </a:r>
            <a:r>
              <a:rPr lang="en-US" sz="1200" b="1" dirty="0" err="1">
                <a:solidFill>
                  <a:srgbClr val="FFFFFF"/>
                </a:solidFill>
              </a:rPr>
              <a:t>oEnter</a:t>
            </a:r>
            <a:r>
              <a:rPr lang="en-US" sz="1200" b="1" dirty="0">
                <a:solidFill>
                  <a:srgbClr val="FFFFFF"/>
                </a:solidFill>
              </a:rPr>
              <a:t> a pic</a:t>
            </a:r>
            <a:endParaRPr lang="en-US" sz="12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3E9A5D4F-A54A-4326-215E-6B9BEC2E0C75}"/>
              </a:ext>
            </a:extLst>
          </p:cNvPr>
          <p:cNvSpPr/>
          <p:nvPr/>
        </p:nvSpPr>
        <p:spPr>
          <a:xfrm>
            <a:off x="411480" y="34838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89F1C3B3-987C-D234-F588-2C1BD42A389C}"/>
              </a:ext>
            </a:extLst>
          </p:cNvPr>
          <p:cNvSpPr/>
          <p:nvPr/>
        </p:nvSpPr>
        <p:spPr>
          <a:xfrm>
            <a:off x="1005840" y="3438144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an Audience</a:t>
            </a:r>
            <a:endParaRPr lang="en-US" sz="12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2AC5A89C-A068-AF69-583B-A6669EBE01A6}"/>
              </a:ext>
            </a:extLst>
          </p:cNvPr>
          <p:cNvSpPr/>
          <p:nvPr/>
        </p:nvSpPr>
        <p:spPr>
          <a:xfrm>
            <a:off x="411480" y="42336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7128FF55-F6D9-E2FE-73B2-B02D0C5D3DC5}"/>
              </a:ext>
            </a:extLst>
          </p:cNvPr>
          <p:cNvSpPr/>
          <p:nvPr/>
        </p:nvSpPr>
        <p:spPr>
          <a:xfrm>
            <a:off x="1005840" y="4187952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</a:t>
            </a:r>
            <a:r>
              <a:rPr lang="en-US" sz="1200" b="1" dirty="0" err="1">
                <a:solidFill>
                  <a:srgbClr val="FFFFFF"/>
                </a:solidFill>
              </a:rPr>
              <a:t>Pubshing</a:t>
            </a:r>
            <a:r>
              <a:rPr lang="en-US" sz="1200" b="1" dirty="0">
                <a:solidFill>
                  <a:srgbClr val="FFFFFF"/>
                </a:solidFill>
              </a:rPr>
              <a:t> Platform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1066D2-8ABB-5B50-0C64-6A7904384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67" y="652298"/>
            <a:ext cx="7002088" cy="407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8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6FF"/>
                </a:solidFill>
              </a:rPr>
              <a:t>09 API INTEGRATIONS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Publishing an audience-tailored article in </a:t>
            </a:r>
            <a:r>
              <a:rPr lang="en-US" sz="2800" b="1" dirty="0" err="1">
                <a:solidFill>
                  <a:srgbClr val="FFFFFF"/>
                </a:solidFill>
              </a:rPr>
              <a:t>Hashnote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0E0"/>
                </a:solidFill>
              </a:rPr>
              <a:t>CybContent  |  Confidential</a:t>
            </a:r>
            <a:endParaRPr lang="en-US" sz="900" dirty="0"/>
          </a:p>
        </p:txBody>
      </p:sp>
      <p:pic>
        <p:nvPicPr>
          <p:cNvPr id="14" name="Publishing to Hashnote 12.23.05.mov">
            <a:hlinkClick r:id="" action="ppaction://media"/>
            <a:extLst>
              <a:ext uri="{FF2B5EF4-FFF2-40B4-BE49-F238E27FC236}">
                <a16:creationId xmlns:a16="http://schemas.microsoft.com/office/drawing/2014/main" id="{CAF11EE1-88AE-C14F-4DDA-B28B3B808F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64308" y="1192628"/>
            <a:ext cx="5863389" cy="32981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8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7315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Questions?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2743200" y="1783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6FF"/>
                </a:solidFill>
              </a:rPr>
              <a:t>We're ready to demo the pipeline live.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743200" y="2377440"/>
            <a:ext cx="6035040" cy="36576"/>
          </a:xfrm>
          <a:prstGeom prst="rect">
            <a:avLst/>
          </a:prstGeom>
          <a:solidFill>
            <a:srgbClr val="0D7EFF"/>
          </a:solidFill>
          <a:ln w="12700">
            <a:solidFill>
              <a:srgbClr val="0D7E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2514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Cyber Content Team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D0E0"/>
                </a:solidFill>
              </a:rPr>
              <a:t>Dilia  ·  Ankita  ·  Oli  ·  Madhuri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</a:rPr>
              <a:t>Client: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91840"/>
            <a:ext cx="2560320" cy="1097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6FF"/>
                </a:solidFill>
              </a:rPr>
              <a:t>PROTECT · DETECT · DEFEND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641</Words>
  <Application>Microsoft Office PowerPoint</Application>
  <PresentationFormat>On-screen Show (16:9)</PresentationFormat>
  <Paragraphs>158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CybContent – AI Content Creator for Cyber Security</dc:title>
  <dc:subject>PptxGenJS Presentation</dc:subject>
  <dc:creator>PptxGenJS</dc:creator>
  <cp:lastModifiedBy>Ankita Sinha</cp:lastModifiedBy>
  <cp:revision>9</cp:revision>
  <dcterms:created xsi:type="dcterms:W3CDTF">2026-05-06T09:46:20Z</dcterms:created>
  <dcterms:modified xsi:type="dcterms:W3CDTF">2026-05-06T11:34:18Z</dcterms:modified>
</cp:coreProperties>
</file>